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01168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Calibri"/>
              </a:rPr>
              <a:t>ACADTEST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10896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97316"/>
                </a:solidFill>
                <a:latin typeface="Calibri"/>
              </a:rPr>
              <a:t>Smart Online Examination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93192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Calibri"/>
              </a:rPr>
              <a:t>Create.  Deliver.  Monitor.  Score.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9436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alitedigitals430@gmail.com   |   09154681851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l"/>
            <a:r>
              <a:rPr sz="3000" b="1">
                <a:solidFill>
                  <a:srgbClr val="FFFFFF"/>
                </a:solidFill>
              </a:rPr>
              <a:t>The Challenge With Traditional Exams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F2937"/>
                </a:solidFill>
                <a:latin typeface="Calibri"/>
              </a:rPr>
              <a:t>• Manual marking delays results</a:t>
            </a:r>
          </a:p>
          <a:p>
            <a:pPr algn="l"/>
            <a:r>
              <a:rPr sz="2400" b="0">
                <a:solidFill>
                  <a:srgbClr val="1F2937"/>
                </a:solidFill>
                <a:latin typeface="Calibri"/>
              </a:rPr>
              <a:t>• Cheating and impersonation</a:t>
            </a:r>
          </a:p>
          <a:p>
            <a:pPr algn="l"/>
            <a:r>
              <a:rPr sz="2400" b="0">
                <a:solidFill>
                  <a:srgbClr val="1F2937"/>
                </a:solidFill>
                <a:latin typeface="Calibri"/>
              </a:rPr>
              <a:t>• Lost answers from interruptions</a:t>
            </a:r>
          </a:p>
          <a:p>
            <a:pPr algn="l"/>
            <a:r>
              <a:rPr sz="2400" b="0">
                <a:solidFill>
                  <a:srgbClr val="1F2937"/>
                </a:solidFill>
                <a:latin typeface="Calibri"/>
              </a:rPr>
              <a:t>• Hard to manage many candidates</a:t>
            </a:r>
          </a:p>
          <a:p>
            <a:pPr algn="l"/>
            <a:r>
              <a:rPr sz="2400" b="0">
                <a:solidFill>
                  <a:srgbClr val="1F2937"/>
                </a:solidFill>
                <a:latin typeface="Calibri"/>
              </a:rPr>
              <a:t>• Heavy administrative workload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97316"/>
                </a:solidFill>
                <a:latin typeface="Calibri"/>
              </a:rPr>
              <a:t>Organisations need a faster, safer, smarter way to test.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l"/>
            <a:r>
              <a:rPr sz="3000" b="1">
                <a:solidFill>
                  <a:srgbClr val="FFFFFF"/>
                </a:solidFill>
              </a:rPr>
              <a:t>Meet AcadTest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F2937"/>
                </a:solidFill>
                <a:latin typeface="Calibri"/>
              </a:rPr>
              <a:t>An all-in-one Computer-Based Testing platform that helps you:</a:t>
            </a:r>
          </a:p>
          <a:p>
            <a:pPr algn="l"/>
          </a:p>
          <a:p>
            <a:pPr algn="l"/>
            <a:r>
              <a:rPr sz="2200" b="0">
                <a:solidFill>
                  <a:srgbClr val="1F2937"/>
                </a:solidFill>
                <a:latin typeface="Calibri"/>
              </a:rPr>
              <a:t>✔ Create exams in minutes</a:t>
            </a:r>
          </a:p>
          <a:p>
            <a:pPr algn="l"/>
            <a:r>
              <a:rPr sz="2200" b="0">
                <a:solidFill>
                  <a:srgbClr val="1F2937"/>
                </a:solidFill>
                <a:latin typeface="Calibri"/>
              </a:rPr>
              <a:t>✔ Deliver tests securely online</a:t>
            </a:r>
          </a:p>
          <a:p>
            <a:pPr algn="l"/>
            <a:r>
              <a:rPr sz="2200" b="0">
                <a:solidFill>
                  <a:srgbClr val="1F2937"/>
                </a:solidFill>
                <a:latin typeface="Calibri"/>
              </a:rPr>
              <a:t>✔ Auto-score results instantly</a:t>
            </a:r>
          </a:p>
          <a:p>
            <a:pPr algn="l"/>
            <a:r>
              <a:rPr sz="2200" b="0">
                <a:solidFill>
                  <a:srgbClr val="1F2937"/>
                </a:solidFill>
                <a:latin typeface="Calibri"/>
              </a:rPr>
              <a:t>✔ Monitor candidates live</a:t>
            </a:r>
          </a:p>
          <a:p>
            <a:pPr algn="l"/>
            <a:r>
              <a:rPr sz="2200" b="0">
                <a:solidFill>
                  <a:srgbClr val="1F2937"/>
                </a:solidFill>
                <a:latin typeface="Calibri"/>
              </a:rPr>
              <a:t>✔ Manage thousands of students with ease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97316"/>
                </a:solidFill>
                <a:latin typeface="Calibri"/>
              </a:rPr>
              <a:t>Runs in any browser — no installation required.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l"/>
            <a:r>
              <a:rPr sz="3000" b="1">
                <a:solidFill>
                  <a:srgbClr val="FFFFFF"/>
                </a:solidFill>
              </a:rPr>
              <a:t>Powerful Features Built For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F2937"/>
                </a:solidFill>
                <a:latin typeface="Calibri"/>
              </a:rPr>
              <a:t>🏢 Multi-Tenant — multiple isolated organisations</a:t>
            </a:r>
          </a:p>
          <a:p>
            <a:pPr algn="l"/>
            <a:r>
              <a:rPr sz="2200" b="0">
                <a:solidFill>
                  <a:srgbClr val="1F2937"/>
                </a:solidFill>
                <a:latin typeface="Calibri"/>
              </a:rPr>
              <a:t>⚡ Auto-Marking — instant scoring</a:t>
            </a:r>
          </a:p>
          <a:p>
            <a:pPr algn="l"/>
            <a:r>
              <a:rPr sz="2200" b="0">
                <a:solidFill>
                  <a:srgbClr val="1F2937"/>
                </a:solidFill>
                <a:latin typeface="Calibri"/>
              </a:rPr>
              <a:t>📥 Bulk Import — CSV, Excel, JSON</a:t>
            </a:r>
          </a:p>
          <a:p>
            <a:pPr algn="l"/>
            <a:r>
              <a:rPr sz="2200" b="0">
                <a:solidFill>
                  <a:srgbClr val="1F2937"/>
                </a:solidFill>
                <a:latin typeface="Calibri"/>
              </a:rPr>
              <a:t>🧮 Built-in Calculator — basic + scientific</a:t>
            </a:r>
          </a:p>
          <a:p>
            <a:pPr algn="l"/>
            <a:r>
              <a:rPr sz="2200" b="0">
                <a:solidFill>
                  <a:srgbClr val="1F2937"/>
                </a:solidFill>
                <a:latin typeface="Calibri"/>
              </a:rPr>
              <a:t>📐 LaTeX Support — perfect for math &amp; science</a:t>
            </a:r>
          </a:p>
          <a:p>
            <a:pPr algn="l"/>
            <a:r>
              <a:rPr sz="2200" b="0">
                <a:solidFill>
                  <a:srgbClr val="1F2937"/>
                </a:solidFill>
                <a:latin typeface="Calibri"/>
              </a:rPr>
              <a:t>🌍 Public Tests — share a code, no signup</a:t>
            </a:r>
          </a:p>
          <a:p>
            <a:pPr algn="l"/>
            <a:r>
              <a:rPr sz="2200" b="0">
                <a:solidFill>
                  <a:srgbClr val="1F2937"/>
                </a:solidFill>
                <a:latin typeface="Calibri"/>
              </a:rPr>
              <a:t>👀 Live Monitoring — real-time submissions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l"/>
            <a:r>
              <a:rPr sz="3000" b="1">
                <a:solidFill>
                  <a:srgbClr val="FFFFFF"/>
                </a:solidFill>
              </a:rPr>
              <a:t>Protecting Exam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F2937"/>
                </a:solidFill>
                <a:latin typeface="Calibri"/>
              </a:rPr>
              <a:t>🔒 Fullscreen Enforcement</a:t>
            </a:r>
          </a:p>
          <a:p>
            <a:pPr algn="l"/>
            <a:r>
              <a:rPr sz="2400" b="0">
                <a:solidFill>
                  <a:srgbClr val="1F2937"/>
                </a:solidFill>
                <a:latin typeface="Calibri"/>
              </a:rPr>
              <a:t>🔒 Tab-Switch Detection (3 strikes = auto-submit)</a:t>
            </a:r>
          </a:p>
          <a:p>
            <a:pPr algn="l"/>
            <a:r>
              <a:rPr sz="2400" b="0">
                <a:solidFill>
                  <a:srgbClr val="1F2937"/>
                </a:solidFill>
                <a:latin typeface="Calibri"/>
              </a:rPr>
              <a:t>🔒 Countdown Timer auto-submit</a:t>
            </a:r>
          </a:p>
          <a:p>
            <a:pPr algn="l"/>
            <a:r>
              <a:rPr sz="2400" b="0">
                <a:solidFill>
                  <a:srgbClr val="1F2937"/>
                </a:solidFill>
                <a:latin typeface="Calibri"/>
              </a:rPr>
              <a:t>🔒 Organisation Data Isolation</a:t>
            </a:r>
          </a:p>
          <a:p>
            <a:pPr algn="l"/>
            <a:r>
              <a:rPr sz="2400" b="0">
                <a:solidFill>
                  <a:srgbClr val="1F2937"/>
                </a:solidFill>
                <a:latin typeface="Calibri"/>
              </a:rPr>
              <a:t>🔒 JWT + Bcrypt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97316"/>
                </a:solidFill>
                <a:latin typeface="Calibri"/>
              </a:rPr>
              <a:t>Reliable results you can trust.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l"/>
            <a:r>
              <a:rPr sz="3000" b="1">
                <a:solidFill>
                  <a:srgbClr val="FFFFFF"/>
                </a:solidFill>
              </a:rPr>
              <a:t>Built For Real-World Exam Conditions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F2937"/>
                </a:solidFill>
                <a:latin typeface="Calibri"/>
              </a:rPr>
              <a:t>💾 Auto-Save every 10 seconds</a:t>
            </a:r>
          </a:p>
          <a:p>
            <a:pPr algn="l"/>
            <a:r>
              <a:rPr sz="2400" b="0">
                <a:solidFill>
                  <a:srgbClr val="1F2937"/>
                </a:solidFill>
                <a:latin typeface="Calibri"/>
              </a:rPr>
              <a:t>🔁 Crash Recovery — answers + time restored</a:t>
            </a:r>
          </a:p>
          <a:p>
            <a:pPr algn="l"/>
            <a:r>
              <a:rPr sz="2400" b="0">
                <a:solidFill>
                  <a:srgbClr val="1F2937"/>
                </a:solidFill>
                <a:latin typeface="Calibri"/>
              </a:rPr>
              <a:t>📱 Works on any device</a:t>
            </a:r>
          </a:p>
          <a:p>
            <a:pPr algn="l"/>
            <a:r>
              <a:rPr sz="2400" b="0">
                <a:solidFill>
                  <a:srgbClr val="1F2937"/>
                </a:solidFill>
                <a:latin typeface="Calibri"/>
              </a:rPr>
              <a:t>🌐 No app download required</a:t>
            </a:r>
          </a:p>
          <a:p>
            <a:pPr algn="l"/>
            <a:r>
              <a:rPr sz="2400" b="0">
                <a:solidFill>
                  <a:srgbClr val="1F2937"/>
                </a:solidFill>
                <a:latin typeface="Calibri"/>
              </a:rPr>
              <a:t>🆔 Optional public access with a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97316"/>
                </a:solidFill>
                <a:latin typeface="Calibri"/>
              </a:rPr>
              <a:t>Students never lose their work — even if the browser crashes.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l"/>
            <a:r>
              <a:rPr sz="3000" b="1">
                <a:solidFill>
                  <a:srgbClr val="FFFFFF"/>
                </a:solidFill>
              </a:rPr>
              <a:t>Perfect For Every Organisation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>
                <a:solidFill>
                  <a:srgbClr val="1F2937"/>
                </a:solidFill>
                <a:latin typeface="Calibri"/>
              </a:rPr>
              <a:t>🎓 Schools &amp; Universities — exams, CBT, entrance tests</a:t>
            </a:r>
          </a:p>
          <a:p>
            <a:pPr algn="l"/>
            <a:r>
              <a:rPr sz="2300" b="0">
                <a:solidFill>
                  <a:srgbClr val="1F2937"/>
                </a:solidFill>
                <a:latin typeface="Calibri"/>
              </a:rPr>
              <a:t>🏫 Training Centres — certifications &amp; skill tests</a:t>
            </a:r>
          </a:p>
          <a:p>
            <a:pPr algn="l"/>
            <a:r>
              <a:rPr sz="2300" b="0">
                <a:solidFill>
                  <a:srgbClr val="1F2937"/>
                </a:solidFill>
                <a:latin typeface="Calibri"/>
              </a:rPr>
              <a:t>🏢 HR / Corporate — recruitment &amp; evaluations</a:t>
            </a:r>
          </a:p>
          <a:p>
            <a:pPr algn="l"/>
            <a:r>
              <a:rPr sz="2300" b="0">
                <a:solidFill>
                  <a:srgbClr val="1F2937"/>
                </a:solidFill>
                <a:latin typeface="Calibri"/>
              </a:rPr>
              <a:t>🏛️ NGOs &amp; Government — large-scale screenings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97316"/>
                </a:solidFill>
                <a:latin typeface="Calibri"/>
              </a:rPr>
              <a:t>If you run exams or assessments, AcadTest is for you.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l"/>
            <a:r>
              <a:rPr sz="3000" b="1">
                <a:solidFill>
                  <a:srgbClr val="FFFFFF"/>
                </a:solidFill>
              </a:rPr>
              <a:t>Affordable Plans In Naira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1828800"/>
          <a:ext cx="10058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</a:rPr>
                        <a:t>Plan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</a:rPr>
                        <a:t>Tests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</a:rPr>
                        <a:t>Students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</a:rPr>
                        <a:t>Price (₦)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2937"/>
                          </a:solidFill>
                        </a:rPr>
                        <a:t>Starter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2937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2937"/>
                          </a:solidFill>
                        </a:rP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2937"/>
                          </a:solidFill>
                        </a:rPr>
                        <a:t>10,000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2937"/>
                          </a:solidFill>
                        </a:rPr>
                        <a:t>Standard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2937"/>
                          </a:solidFill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2937"/>
                          </a:solidFill>
                        </a:rPr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2937"/>
                          </a:solidFill>
                        </a:rPr>
                        <a:t>25,000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2937"/>
                          </a:solidFill>
                        </a:rPr>
                        <a:t>Professional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2937"/>
                          </a:solidFill>
                        </a:rPr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2937"/>
                          </a:solidFill>
                        </a:rPr>
                        <a:t>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2937"/>
                          </a:solidFill>
                        </a:rPr>
                        <a:t>50,000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2937"/>
                          </a:solidFill>
                        </a:rPr>
                        <a:t>Institution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2937"/>
                          </a:solidFill>
                        </a:rP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2937"/>
                          </a:solidFill>
                        </a:rPr>
                        <a:t>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2937"/>
                          </a:solidFill>
                        </a:rPr>
                        <a:t>100,000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3035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97316"/>
                </a:solidFill>
                <a:latin typeface="Calibri"/>
              </a:rPr>
              <a:t>Payments via Paystack — Card, Bank Transfer, USSD.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l"/>
            <a:r>
              <a:rPr sz="3000" b="1">
                <a:solidFill>
                  <a:srgbClr val="FFFFFF"/>
                </a:solidFill>
              </a:rPr>
              <a:t>Scale Without Upgrading — Add-Ons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F2937"/>
                </a:solidFill>
                <a:latin typeface="Calibri"/>
              </a:rPr>
              <a:t>📄 Add More Tests</a:t>
            </a:r>
          </a:p>
          <a:p>
            <a:pPr algn="l"/>
            <a:r>
              <a:rPr sz="2200" b="0">
                <a:solidFill>
                  <a:srgbClr val="1F2937"/>
                </a:solidFill>
                <a:latin typeface="Calibri"/>
              </a:rPr>
              <a:t>  +5 Tests → ₦5,000</a:t>
            </a:r>
          </a:p>
          <a:p>
            <a:pPr algn="l"/>
            <a:r>
              <a:rPr sz="2200" b="0">
                <a:solidFill>
                  <a:srgbClr val="1F2937"/>
                </a:solidFill>
                <a:latin typeface="Calibri"/>
              </a:rPr>
              <a:t>  +10 Tests → ₦9,000</a:t>
            </a:r>
          </a:p>
          <a:p>
            <a:pPr algn="l"/>
            <a:r>
              <a:rPr sz="2200" b="0">
                <a:solidFill>
                  <a:srgbClr val="1F2937"/>
                </a:solidFill>
                <a:latin typeface="Calibri"/>
              </a:rPr>
              <a:t>  +25 Tests → ₦20,000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01168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F2937"/>
                </a:solidFill>
                <a:latin typeface="Calibri"/>
              </a:rPr>
              <a:t>👥 Add More Students</a:t>
            </a:r>
          </a:p>
          <a:p>
            <a:pPr algn="l"/>
            <a:r>
              <a:rPr sz="2200" b="0">
                <a:solidFill>
                  <a:srgbClr val="1F2937"/>
                </a:solidFill>
                <a:latin typeface="Calibri"/>
              </a:rPr>
              <a:t>  +100 → ₦3,000</a:t>
            </a:r>
          </a:p>
          <a:p>
            <a:pPr algn="l"/>
            <a:r>
              <a:rPr sz="2200" b="0">
                <a:solidFill>
                  <a:srgbClr val="1F2937"/>
                </a:solidFill>
                <a:latin typeface="Calibri"/>
              </a:rPr>
              <a:t>  +500 → ₦10,000</a:t>
            </a:r>
          </a:p>
          <a:p>
            <a:pPr algn="l"/>
            <a:r>
              <a:rPr sz="2200" b="0">
                <a:solidFill>
                  <a:srgbClr val="1F2937"/>
                </a:solidFill>
                <a:latin typeface="Calibri"/>
              </a:rPr>
              <a:t>  +1,000 → ₦18,000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97316"/>
                </a:solidFill>
                <a:latin typeface="Calibri"/>
              </a:rPr>
              <a:t>Pay only for what you need.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Ready to Modernise Your Exams?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651760"/>
            <a:ext cx="121916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Calibri"/>
              </a:rPr>
              <a:t>✅ Easy to set up</a:t>
            </a:r>
          </a:p>
          <a:p>
            <a:pPr algn="ctr"/>
            <a:r>
              <a:rPr sz="2400" b="0">
                <a:solidFill>
                  <a:srgbClr val="FFFFFF"/>
                </a:solidFill>
                <a:latin typeface="Calibri"/>
              </a:rPr>
              <a:t>✅ Secure &amp; reliable</a:t>
            </a:r>
          </a:p>
          <a:p>
            <a:pPr algn="ctr"/>
            <a:r>
              <a:rPr sz="2400" b="0">
                <a:solidFill>
                  <a:srgbClr val="FFFFFF"/>
                </a:solidFill>
                <a:latin typeface="Calibri"/>
              </a:rPr>
              <a:t>✅ Affordable &amp; scalable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48056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97316"/>
                </a:solidFill>
                <a:latin typeface="Calibri"/>
              </a:rPr>
              <a:t>📧 alitedigitals430@gmail.com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0292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97316"/>
                </a:solidFill>
                <a:latin typeface="Calibri"/>
              </a:rPr>
              <a:t>📞 09154681851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85216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ACADTEST — The Smarter Way To Test.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